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6"/>
    <p:sldId id="259" r:id="rId7"/>
    <p:sldId id="260" r:id="rId8"/>
    <p:sldId id="261" r:id="rId9"/>
    <p:sldId id="262" r:id="rId1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Char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770040" y="2790360"/>
            <a:ext cx="597276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064640" y="2790720"/>
            <a:ext cx="336132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2 Tables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body"/>
          </p:nvPr>
        </p:nvSpPr>
        <p:spPr>
          <a:xfrm>
            <a:off x="5760720" y="2790720"/>
            <a:ext cx="466488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324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770040" y="2790720"/>
            <a:ext cx="466092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with Long Headlin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 hasCustomPrompt="1"/>
          </p:nvPr>
        </p:nvSpPr>
        <p:spPr>
          <a:xfrm>
            <a:off x="1195560" y="25416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rPr>
              <a:t>Master title slide style</a:t>
            </a:r>
            <a:br>
              <a:rPr sz="4400"/>
            </a:br>
            <a:r>
              <a: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rPr>
              <a:t>with long headline</a:t>
            </a:r>
            <a:endParaRPr lang="en-US" sz="4400" b="1" i="1" u="none" strike="noStrike" cap="all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ansition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body" hasCustomPrompt="1"/>
          </p:nvPr>
        </p:nvSpPr>
        <p:spPr>
          <a:xfrm>
            <a:off x="1206360" y="25524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MASTER TRANSITION SLIDE STYLE</a:t>
            </a:r>
            <a:endParaRPr lang="en-US" sz="4400" b="1" i="1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ansition Slide with Long Headlin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body" hasCustomPrompt="1"/>
          </p:nvPr>
        </p:nvSpPr>
        <p:spPr>
          <a:xfrm>
            <a:off x="1206360" y="25524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MASTER TRANSITION SLIDE STYLE</a:t>
            </a:r>
            <a:br>
              <a:rPr sz="4400"/>
            </a:br>
            <a:r>
              <a:rPr lang="en-US" sz="4400" b="1" i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WITH LONG HEADLINE</a:t>
            </a:r>
            <a:endParaRPr lang="en-US" sz="4400" b="1" i="1" u="none" strike="noStrike">
              <a:solidFill>
                <a:schemeClr val="accent2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pty Content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44546A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Bullet Color 4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FDB931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 hasCustomPrompt="1"/>
          </p:nvPr>
        </p:nvSpPr>
        <p:spPr>
          <a:xfrm>
            <a:off x="1195560" y="254160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i="1" u="none" strike="noStrike" cap="all">
                <a:solidFill>
                  <a:schemeClr val="accent1"/>
                </a:solidFill>
                <a:effectLst/>
                <a:uFillTx/>
                <a:latin typeface="Times New Roman"/>
              </a:rPr>
              <a:t>Master title slide style</a:t>
            </a:r>
            <a:endParaRPr lang="en-US" sz="4400" b="1" i="1" u="none" strike="noStrike" cap="all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Imag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body"/>
          </p:nvPr>
        </p:nvSpPr>
        <p:spPr>
          <a:xfrm>
            <a:off x="770040" y="2790360"/>
            <a:ext cx="597276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pic"/>
          </p:nvPr>
        </p:nvSpPr>
        <p:spPr>
          <a:xfrm>
            <a:off x="7074000" y="2790720"/>
            <a:ext cx="335124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Slide with Tabl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body"/>
          </p:nvPr>
        </p:nvSpPr>
        <p:spPr>
          <a:xfrm>
            <a:off x="770040" y="2790360"/>
            <a:ext cx="597276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Lorem ipsum dolor sit amet, consectetur adipiscing elit.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FDB931"/>
              </a:buClr>
              <a:buFont typeface=".HelveticaNeueDeskInterface-Regular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Morbi blandit pharetra enim, vel molestie erat venenatis varius.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99"/>
              </a:spcBef>
              <a:buClr>
                <a:srgbClr val="004684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Sed sodales bibendum mi, vel tincidunt lectus adipiscing congue.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074000" y="2790720"/>
            <a:ext cx="335160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4684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Slide Header</a:t>
            </a:r>
            <a:endParaRPr lang="en-US" sz="3600" b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 hasCustomPrompt="1"/>
          </p:nvPr>
        </p:nvSpPr>
        <p:spPr>
          <a:xfrm>
            <a:off x="770040" y="2133720"/>
            <a:ext cx="9655560" cy="63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accent2"/>
                </a:solidFill>
                <a:effectLst/>
                <a:uFillTx/>
                <a:latin typeface="Times New Roman"/>
                <a:ea typeface="Times New Roman"/>
              </a:rPr>
              <a:t>Subheader</a:t>
            </a:r>
            <a:endParaRPr lang="en-US" sz="24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 hasCustomPrompt="1"/>
          </p:nvPr>
        </p:nvSpPr>
        <p:spPr>
          <a:xfrm>
            <a:off x="5225040" y="565560"/>
            <a:ext cx="6649920" cy="695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i="1" u="none" strike="noStrike">
                <a:solidFill>
                  <a:schemeClr val="accent1"/>
                </a:solidFill>
                <a:effectLst/>
                <a:uFillTx/>
                <a:latin typeface="Times New Roman"/>
                <a:ea typeface="Times New Roman"/>
              </a:rPr>
              <a:t>SLIDE SUBJECT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Slide - Main Headline"/>
          <p:cNvSpPr>
            <a:spLocks noGrp="1"/>
          </p:cNvSpPr>
          <p:nvPr>
            <p:ph type="title" hasCustomPrompt="1"/>
          </p:nvPr>
        </p:nvSpPr>
        <p:spPr>
          <a:xfrm>
            <a:off x="1207080" y="2237760"/>
            <a:ext cx="976536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Retrieve, Rerank and Rewrite: Soft Template Based Neural Summarization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Slide 1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Introduction to Abstractive Sentence Summarization</a:t>
            </a:r>
          </a:p>
        </p:txBody>
      </p:sp>
      <p:sp>
        <p:nvSpPr>
          <p:cNvPr id="1011" name="Slide 1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Abstractive sentence summarization generates concise summaries while preserving the core meaning of the original sentence.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Crucial for downstream applications like headline generation and content condensation.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Attentional sequence-to-sequence (seq2seq) frameworks represent the state-of-the-art approach in this domain.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20" name="Slide 2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Limitations of Pure Seq2Seq Summarization</a:t>
            </a:r>
          </a:p>
        </p:txBody>
      </p:sp>
      <p:sp>
        <p:nvSpPr>
          <p:cNvPr id="1021" name="Slide 2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Performance rapidly deteriorates as generation length increases.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Models prone to losing control, generating degenerate outputs (e.g., extreme repetition or overly short sentences under 3 words).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Tendency to blindly copy source tokens sequentially without true abstractive summarization.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Free generation based solely on the source text lacks adequate structural guidance.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0" name="Slide 3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Template-Based Summarization: Strengths and Bottlenecks</a:t>
            </a:r>
          </a:p>
        </p:txBody>
      </p:sp>
      <p:sp>
        <p:nvSpPr>
          <p:cNvPr id="1031" name="Slide 3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Traditional template-based methods fill predefined sentence frames using manually crafted rules.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Human-crafted templates ensure high fluency, readability, and information density.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Major drawback: Rule and template creation is labor-intensive and lacks scalability across diverse domains.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40" name="Slide 4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Proposed Solution: Soft Templates and Re3Sum</a:t>
            </a:r>
          </a:p>
        </p:txBody>
      </p:sp>
      <p:sp>
        <p:nvSpPr>
          <p:cNvPr id="1041" name="Slide 4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Introduces 'soft templates' derived from golden summaries of similar sentences retrieved from training data.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Eliminates the need for hand-crafted slot-filling rules by leveraging seq2seq rewriting capabilities.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Presents Re3Sum, an end-to-end framework integrating seq2seq with template guidance through three stages: Retrieve, Rerank, and Rewrite.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0" name="Slide 5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The Re3Sum Methodology</a:t>
            </a:r>
          </a:p>
        </p:txBody>
      </p:sp>
      <p:sp>
        <p:nvSpPr>
          <p:cNvPr id="1051" name="Slide 5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Retrieve: Employs an Information Retrieval (IR) platform to find candidate soft templates from the training set.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Rerank: Uses an RNN encoder to evaluate candidate template saliency and selects the most informative template.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Rewrite: Generates the target summary conditioned jointly on hidden representations of both the source sentence and the selected soft template.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60" name="Slide 6Title"/>
          <p:cNvSpPr>
            <a:spLocks noGrp="1"/>
          </p:cNvSpPr>
          <p:nvPr>
            <p:ph type="title" hasCustomPrompt="1"/>
          </p:nvPr>
        </p:nvSpPr>
        <p:spPr>
          <a:xfrm>
            <a:off x="770040" y="1571400"/>
            <a:ext cx="9655200" cy="58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l">
              <a:defRPr b="0" i="0"/>
            </a:pPr>
            <a:r>
              <a:t>Experimental Evaluation and Findings</a:t>
            </a:r>
          </a:p>
        </p:txBody>
      </p:sp>
      <p:sp>
        <p:nvSpPr>
          <p:cNvPr id="1061" name="Slide 6Content"/>
          <p:cNvSpPr>
            <a:spLocks noGrp="1"/>
          </p:cNvSpPr>
          <p:nvPr>
            <p:ph hasCustomPrompt="1"/>
          </p:nvPr>
        </p:nvSpPr>
        <p:spPr>
          <a:xfrm>
            <a:off x="770040" y="2790360"/>
            <a:ext cx="9655200" cy="29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Evaluated on the benchmark Gigaword dataset for abstractive summarization.</a:t>
            </a:r>
            <a:endParaRPr lang="en-US" sz="1800" b="1" i="1" u="none" strike="noStrike">
              <a:solidFill>
                <a:schemeClr val="accent1"/>
              </a:solidFill>
              <a:effectLst/>
              <a:uFillTx/>
              <a:latin typeface="Times New Roman"/>
            </a:endParaRP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Re3Sum significantly outperforms state-of-the-art pure seq2seq baseline models in informativeness.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Retrieved soft templates alone exhibit strong competitive baseline quality.</a:t>
            </a:r>
          </a:p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spcAft>
                <a:spcPts val="1001"/>
              </a:spcAft>
              <a:buClr>
                <a:srgbClr val="004684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b="0" i="0"/>
            </a:pPr>
            <a:r>
              <a:t>Incorporating external summary references markedly improves output readability, stability, and generation quality.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Blu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684"/>
      </a:accent1>
      <a:accent2>
        <a:srgbClr val="FDB931"/>
      </a:accent2>
      <a:accent3>
        <a:srgbClr val="666666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 pitchFamily="0" charset="1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 pitchFamily="0" charset="1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1192</TotalTime>
  <Application>LibreOffice/26.8.0.3$Windows_X86_64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2016-08-12T21:58:39Z</dcterms:created>
  <dc:creator>Gray Luckett</dc:creator>
  <dc:description/>
  <dc:language>en-US</dc:language>
  <cp:lastModifiedBy/>
  <dcterms:modified xsi:type="dcterms:W3CDTF">2026-10-14T00:50:54Z</dcterms:modified>
  <cp:revision>28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13</vt:i4>
  </property>
</Properties>
</file>