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6"/>
    <p:sldId id="259" r:id="rId7"/>
    <p:sldId id="260" r:id="rId8"/>
    <p:sldId id="261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Char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064640" y="2790720"/>
            <a:ext cx="336132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2 Table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body"/>
          </p:nvPr>
        </p:nvSpPr>
        <p:spPr>
          <a:xfrm>
            <a:off x="5760720" y="2790720"/>
            <a:ext cx="466488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324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770040" y="2790720"/>
            <a:ext cx="466092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with Long Headlin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 hasCustomPrompt="1"/>
          </p:nvPr>
        </p:nvSpPr>
        <p:spPr>
          <a:xfrm>
            <a:off x="1195560" y="25416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Master title slide style</a:t>
            </a:r>
            <a:br>
              <a:rPr sz="4400"/>
            </a:b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with long headline</a:t>
            </a:r>
            <a:endParaRPr lang="en-US" sz="4400" b="1" i="1" u="none" strike="noStrike" cap="all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ansition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body" hasCustomPrompt="1"/>
          </p:nvPr>
        </p:nvSpPr>
        <p:spPr>
          <a:xfrm>
            <a:off x="1206360" y="25524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MASTER TRANSITION SLIDE STYLE</a:t>
            </a:r>
            <a:endParaRPr lang="en-US" sz="4400" b="1" i="1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ansition Slide with Long Headlin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body" hasCustomPrompt="1"/>
          </p:nvPr>
        </p:nvSpPr>
        <p:spPr>
          <a:xfrm>
            <a:off x="1206360" y="25524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MASTER TRANSITION SLIDE STYLE</a:t>
            </a:r>
            <a:br>
              <a:rPr sz="4400"/>
            </a:b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WITH LONG HEADLINE</a:t>
            </a:r>
            <a:endParaRPr lang="en-US" sz="4400" b="1" i="1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pty Content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 hasCustomPrompt="1"/>
          </p:nvPr>
        </p:nvSpPr>
        <p:spPr>
          <a:xfrm>
            <a:off x="1195560" y="25416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Master title slide style</a:t>
            </a:r>
            <a:endParaRPr lang="en-US" sz="4400" b="1" i="1" u="none" strike="noStrike" cap="all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Imag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pic"/>
          </p:nvPr>
        </p:nvSpPr>
        <p:spPr>
          <a:xfrm>
            <a:off x="7074000" y="2790720"/>
            <a:ext cx="335124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Tabl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074000" y="2790720"/>
            <a:ext cx="335160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Slide - Main Headline"/>
          <p:cNvSpPr>
            <a:spLocks noGrp="1"/>
          </p:cNvSpPr>
          <p:nvPr>
            <p:ph type="title" hasCustomPrompt="1"/>
          </p:nvPr>
        </p:nvSpPr>
        <p:spPr>
          <a:xfrm>
            <a:off x="1207080" y="223776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Simple and Effective Text Simplification Using Semantic and Neural Methods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Slide 1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Overview of Text Simplification (TS)</a:t>
            </a:r>
          </a:p>
        </p:txBody>
      </p:sp>
      <p:sp>
        <p:nvSpPr>
          <p:cNvPr id="1011" name="Slide 1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Defines TS as converting complex sentences into one or more simpler sentences.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Serves as a crucial preprocessing step for tasks like Machine Translation and relation extraction.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Provides assistive reading aids for non-native speakers and individuals with dyslexia.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Encompasses both structural operations (e.g., sentence splitting, deletions) and lexical operations (e.g., word substitutions).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0" name="Slide 2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Challenges in Neural Text Simplification</a:t>
            </a:r>
          </a:p>
        </p:txBody>
      </p:sp>
      <p:sp>
        <p:nvSpPr>
          <p:cNvPr id="1021" name="Slide 2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Modern Neural Machine Translation (NMT) frameworks treat TS as monolingual translation.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Sentence splitting is largely neglected by NMT models due to low representation in training corpora.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NMT systems suffer from severe conservatism; experiments show 66% of input sentences remain entirely unchanged.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Human and automatic evaluations show references are simpler, proving standard NMT conservatism is excessive.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0" name="Slide 3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Prior Approaches to Sentence Splitting</a:t>
            </a:r>
          </a:p>
        </p:txBody>
      </p:sp>
      <p:sp>
        <p:nvSpPr>
          <p:cNvPr id="1031" name="Slide 3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Handcrafted syntactic rules: Highly laborious to curate and maintain (e.g., requiring over 100 rules for clauses and appositions).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Language dependency: Syntactic splitting rules are language-specific and do not generalize easily across languages.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Probabilistic event boundary models: Hybrid frameworks learn split probabilities from parallel data but depend heavily on training 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0" name="Slide 4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Proposed Solution: Direct Semantic Splitting (DSS)</a:t>
            </a:r>
          </a:p>
        </p:txBody>
      </p:sp>
      <p:sp>
        <p:nvSpPr>
          <p:cNvPr id="1041" name="Slide 4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Introduces the first approach combining structural semantics with neural TS methods.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Employs Direct Semantic Splitting (DSS) using a semantic parser to isolate core semantic constituents.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Leverages the UCCA (Universal Conceptual Cognitive Annotation) scheme where units are directly anchored in the text.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Applies NMT-based simplification (NTS) following the initial semantic sentence split.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0" name="Slide 5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Key Advantages and Performance</a:t>
            </a:r>
          </a:p>
        </p:txBody>
      </p:sp>
      <p:sp>
        <p:nvSpPr>
          <p:cNvPr id="1051" name="Slide 5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Splitting sentences as preprocessing reduces conservatism and enables subsequent structural and lexical edits.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Enhances both structural simplicity (via splitting and deletions) and lexical simplicity (via word substitutions).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Outperforms prior state-of-the-art hybrid approaches across both automatic metrics and human evaluations.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684"/>
      </a:accent1>
      <a:accent2>
        <a:srgbClr val="FDB931"/>
      </a:accent2>
      <a:accent3>
        <a:srgbClr val="666666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 pitchFamily="0" charset="1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 pitchFamily="0" charset="1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1192</TotalTime>
  <Application>LibreOffice/26.8.0.3$Windows_X86_64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2016-08-12T21:58:39Z</dcterms:created>
  <dc:creator>Gray Luckett</dc:creator>
  <dc:description/>
  <dc:language>en-US</dc:language>
  <cp:lastModifiedBy/>
  <dcterms:modified xsi:type="dcterms:W3CDTF">2026-10-14T00:50:54Z</dcterms:modified>
  <cp:revision>28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13</vt:i4>
  </property>
</Properties>
</file>