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Char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064640" y="2790720"/>
            <a:ext cx="336132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2 Table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body"/>
          </p:nvPr>
        </p:nvSpPr>
        <p:spPr>
          <a:xfrm>
            <a:off x="5760720" y="2790720"/>
            <a:ext cx="466488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324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770040" y="2790720"/>
            <a:ext cx="466092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with Long Headlin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 hasCustomPrompt="1"/>
          </p:nvPr>
        </p:nvSpPr>
        <p:spPr>
          <a:xfrm>
            <a:off x="1195560" y="25416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Master title slide style</a:t>
            </a:r>
            <a:br>
              <a:rPr sz="4400"/>
            </a:b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with long headline</a:t>
            </a:r>
            <a:endParaRPr lang="en-US" sz="4400" b="1" i="1" u="none" strike="noStrike" cap="all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body" hasCustomPrompt="1"/>
          </p:nvPr>
        </p:nvSpPr>
        <p:spPr>
          <a:xfrm>
            <a:off x="1206360" y="25524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MASTER TRANSITION SLIDE STYLE</a:t>
            </a:r>
            <a:endParaRPr lang="en-US" sz="4400" b="1" i="1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Slide with Long Headlin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body" hasCustomPrompt="1"/>
          </p:nvPr>
        </p:nvSpPr>
        <p:spPr>
          <a:xfrm>
            <a:off x="1206360" y="25524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MASTER TRANSITION SLIDE STYLE</a:t>
            </a:r>
            <a:br>
              <a:rPr sz="4400"/>
            </a:b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WITH LONG HEADLINE</a:t>
            </a:r>
            <a:endParaRPr lang="en-US" sz="4400" b="1" i="1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pty Content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 hasCustomPrompt="1"/>
          </p:nvPr>
        </p:nvSpPr>
        <p:spPr>
          <a:xfrm>
            <a:off x="1195560" y="25416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Master title slide style</a:t>
            </a:r>
            <a:endParaRPr lang="en-US" sz="4400" b="1" i="1" u="none" strike="noStrike" cap="all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Imag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pic"/>
          </p:nvPr>
        </p:nvSpPr>
        <p:spPr>
          <a:xfrm>
            <a:off x="7074000" y="2790720"/>
            <a:ext cx="335124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Tab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074000" y="2790720"/>
            <a:ext cx="335160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Slide - Main Headline"/>
          <p:cNvSpPr>
            <a:spLocks noGrp="1"/>
          </p:cNvSpPr>
          <p:nvPr>
            <p:ph type="title" hasCustomPrompt="1"/>
          </p:nvPr>
        </p:nvSpPr>
        <p:spPr>
          <a:xfrm>
            <a:off x="1207080" y="223776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Incorporating Satellite Documents into Co-citation Networks for Scientific Paper Searches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Slide 1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Introduction &amp; Research Background</a:t>
            </a:r>
          </a:p>
        </p:txBody>
      </p:sp>
      <p:sp>
        <p:nvSpPr>
          <p:cNvPr id="1011" name="Slide 1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Citation networks model implicit relationships between scientific documents for literature search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Standard co-citation links identify document pairs concurrently cited by a third paper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Co-cited papers share topical similarity with an initial relevant seed document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Traditional citation networks can be expanded using external information to boost retrieval recall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0" name="Slide 2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Motivation: Word-Based Network Expansion</a:t>
            </a:r>
          </a:p>
        </p:txBody>
      </p:sp>
      <p:sp>
        <p:nvSpPr>
          <p:cNvPr id="1021" name="Slide 2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Pure co-citation networks may miss relevant papers that lack direct citation linkages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Co-cited documents provide domain-specific search terms absent from the initial seed query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Word-based queries derived from co-cited papers help identify additional relevant literature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Enlarging the network bridges vocabulary mismatches between the user and relevant papers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0" name="Slide 3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Satellite Documents &amp; Co-Citation Context</a:t>
            </a:r>
          </a:p>
        </p:txBody>
      </p:sp>
      <p:sp>
        <p:nvSpPr>
          <p:cNvPr id="1031" name="Slide 3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Satellite documents are defined as items retrieved via full-text search using expanded search terms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The proposed method integrates these satellite documents into the initial co-citation graph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Co-citation contexts are leveraged to filter out irrelevant or noisy satellite documents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Context-aware filtering ensures network precision while increasing recall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0" name="Slide 4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Evaluation Framework</a:t>
            </a:r>
          </a:p>
        </p:txBody>
      </p:sp>
      <p:sp>
        <p:nvSpPr>
          <p:cNvPr id="1041" name="Slide 4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Performance is evaluated using empirical Information Retrieval (IR) experiment benchmarks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The Random Walk with Restart (RWR) algorithm computes similarity scores between the seed and graph nodes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Enlarged networks are compared directly against baseline initial networks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Search efficacy is measured using normalized discounted cumulative gain at cutoff K (nDCG@K)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0" name="Slide 5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Graph Formulation &amp; Edge Weighting</a:t>
            </a:r>
          </a:p>
        </p:txBody>
      </p:sp>
      <p:sp>
        <p:nvSpPr>
          <p:cNvPr id="1051" name="Slide 5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Initial networks consist of document nodes connected by undirected co-citation links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The query corresponds to a known relevant seed document within the network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Edge weight w(d1, d2) represents the co-citation count between document pairs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Weighted edges are represented formally as Edge(d1, d2, w)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60" name="Slide 6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Satellite Document Discovery Process</a:t>
            </a:r>
          </a:p>
        </p:txBody>
      </p:sp>
      <p:sp>
        <p:nvSpPr>
          <p:cNvPr id="1061" name="Slide 6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Host documents are identified as nodes located one hop away from the seed document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Title words of host documents serve as search queries targeting the broader corpus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Full-text searches are conducted using the Indri search engine with tf-idf scoring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The top N ranked documents (excluding the seed) are incorporated as satellite documents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684"/>
      </a:accent1>
      <a:accent2>
        <a:srgbClr val="FDB931"/>
      </a:accent2>
      <a:accent3>
        <a:srgbClr val="666666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 pitchFamily="0" charset="1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 pitchFamily="0" charset="1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1192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2016-08-12T21:58:39Z</dcterms:created>
  <dc:creator>Gray Luckett</dc:creator>
  <dc:description/>
  <dc:language>en-US</dc:language>
  <cp:lastModifiedBy/>
  <dcterms:modified xsi:type="dcterms:W3CDTF">2026-10-14T00:50:54Z</dcterms:modified>
  <cp:revision>28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