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6"/>
    <p:sldId id="259" r:id="rId7"/>
    <p:sldId id="260" r:id="rId8"/>
    <p:sldId id="261" r:id="rId9"/>
    <p:sldId id="262" r:id="rId1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Char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064640" y="2790720"/>
            <a:ext cx="336132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2 Table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body"/>
          </p:nvPr>
        </p:nvSpPr>
        <p:spPr>
          <a:xfrm>
            <a:off x="5760720" y="2790720"/>
            <a:ext cx="466488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324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770040" y="2790720"/>
            <a:ext cx="466092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with Long Headlin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 hasCustomPrompt="1"/>
          </p:nvPr>
        </p:nvSpPr>
        <p:spPr>
          <a:xfrm>
            <a:off x="1195560" y="25416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Master title slide style</a:t>
            </a:r>
            <a:br>
              <a:rPr sz="4400"/>
            </a:b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with long headline</a:t>
            </a:r>
            <a:endParaRPr lang="en-US" sz="4400" b="1" i="1" u="none" strike="noStrike" cap="all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ansition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body" hasCustomPrompt="1"/>
          </p:nvPr>
        </p:nvSpPr>
        <p:spPr>
          <a:xfrm>
            <a:off x="1206360" y="25524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MASTER TRANSITION SLIDE STYLE</a:t>
            </a:r>
            <a:endParaRPr lang="en-US" sz="4400" b="1" i="1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ansition Slide with Long Headlin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body" hasCustomPrompt="1"/>
          </p:nvPr>
        </p:nvSpPr>
        <p:spPr>
          <a:xfrm>
            <a:off x="1206360" y="25524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MASTER TRANSITION SLIDE STYLE</a:t>
            </a:r>
            <a:br>
              <a:rPr sz="4400"/>
            </a:b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WITH LONG HEADLINE</a:t>
            </a:r>
            <a:endParaRPr lang="en-US" sz="4400" b="1" i="1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pty Content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 hasCustomPrompt="1"/>
          </p:nvPr>
        </p:nvSpPr>
        <p:spPr>
          <a:xfrm>
            <a:off x="1195560" y="25416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Master title slide style</a:t>
            </a:r>
            <a:endParaRPr lang="en-US" sz="4400" b="1" i="1" u="none" strike="noStrike" cap="all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Imag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pic"/>
          </p:nvPr>
        </p:nvSpPr>
        <p:spPr>
          <a:xfrm>
            <a:off x="7074000" y="2790720"/>
            <a:ext cx="335124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Tabl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074000" y="2790720"/>
            <a:ext cx="335160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Slide - Main Headline"/>
          <p:cNvSpPr>
            <a:spLocks noGrp="1"/>
          </p:cNvSpPr>
          <p:nvPr>
            <p:ph type="title" hasCustomPrompt="1"/>
          </p:nvPr>
        </p:nvSpPr>
        <p:spPr>
          <a:xfrm>
            <a:off x="1207080" y="223776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Language Generation via DAG Transduction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Slide 1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Background and Motivation</a:t>
            </a:r>
          </a:p>
        </p:txBody>
      </p:sp>
      <p:sp>
        <p:nvSpPr>
          <p:cNvPr id="1011" name="Slide 1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Rapid growth in semantic parsing and surface realization using graph-structured representations like AMR, EDS, and DMRS.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Formal graph-manipulating frameworks remain underexploited compared to string and tree automata or grammars.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Need for principled formalisms to power accurate, efficient, and robust Natural Language Generation (NLG) systems.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0" name="Slide 2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Existing Graph Formalisms in NLP</a:t>
            </a:r>
          </a:p>
        </p:txBody>
      </p:sp>
      <p:sp>
        <p:nvSpPr>
          <p:cNvPr id="1021" name="Slide 2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Hyperedge Replacement Grammars (HRG) provide one approach to graph manipulation.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DAG automata represent another formalism, pioneered by Kamimura &amp; Slutzki and extended by Chiang et al.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This work focuses on deep exploration and application of DAG transducers for realistic NLG.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0" name="Slide 3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Type-Logical Semantic Graphs</a:t>
            </a:r>
          </a:p>
        </p:txBody>
      </p:sp>
      <p:sp>
        <p:nvSpPr>
          <p:cNvPr id="1031" name="Slide 3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Grounded in type-logical semantics where adjuncts, quantifiers, and function words are higher-order functors.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Functors consume complex arguments, causing linguistic elements to be represented as roots.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Produces flat rather than hierarchical graph structures, creating an essential divergence between semantics and syntax.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0" name="Slide 4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Limitations of Prior DAG Transducers</a:t>
            </a:r>
          </a:p>
        </p:txBody>
      </p:sp>
      <p:sp>
        <p:nvSpPr>
          <p:cNvPr id="1041" name="Slide 4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Prior DAG-to-tree transducer (Quernheim &amp; Knight, 2012) targeted hierarchical AMR with limited reentrancies.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Unsuitable for the non-hierarchical, flat structures inherent to type-logical semantics.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Lacked methods for acquiring transduction rules from corpus data and offered no practical NLG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0" name="Slide 5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Paradigm Shift: From Imperative to Declarative</a:t>
            </a:r>
          </a:p>
        </p:txBody>
      </p:sp>
      <p:sp>
        <p:nvSpPr>
          <p:cNvPr id="1051" name="Slide 5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Traditional string and tree transducers mirror imperative programming, coupling computation logic with explicit control flow.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Imperative control flow struggles with the structural diversity of type-logical semantic graphs.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Declarative programming shifts focus to specifying what must be accomplished rather than the precise execution steps.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60" name="Slide 6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Proposed Approach: Graph-to-Program Transduction</a:t>
            </a:r>
          </a:p>
        </p:txBody>
      </p:sp>
      <p:sp>
        <p:nvSpPr>
          <p:cNvPr id="1061" name="Slide 6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Introduces a novel DAG transducer performing graph-to-program transformation.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Maps semantic graph inputs directly into programs licensed by a declarative language.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Yields surface text upon program execution, with extensibility to syntactic trees and cross-lingual representations.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684"/>
      </a:accent1>
      <a:accent2>
        <a:srgbClr val="FDB931"/>
      </a:accent2>
      <a:accent3>
        <a:srgbClr val="666666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 pitchFamily="0" charset="1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 pitchFamily="0" charset="1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1192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2016-08-12T21:58:39Z</dcterms:created>
  <dc:creator>Gray Luckett</dc:creator>
  <dc:description/>
  <dc:language>en-US</dc:language>
  <cp:lastModifiedBy/>
  <dcterms:modified xsi:type="dcterms:W3CDTF">2026-10-14T00:50:54Z</dcterms:modified>
  <cp:revision>28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</Properties>
</file>